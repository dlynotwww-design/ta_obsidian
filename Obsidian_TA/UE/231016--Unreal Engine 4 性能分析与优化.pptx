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7" r:id="rId17"/>
    <p:sldId id="271" r:id="rId18"/>
    <p:sldId id="276" r:id="rId19"/>
    <p:sldId id="277" r:id="rId20"/>
    <p:sldId id="278" r:id="rId21"/>
    <p:sldId id="272" r:id="rId22"/>
    <p:sldId id="273" r:id="rId23"/>
    <p:sldId id="279" r:id="rId24"/>
    <p:sldId id="280" r:id="rId25"/>
    <p:sldId id="281" r:id="rId26"/>
    <p:sldId id="282" r:id="rId27"/>
    <p:sldId id="283" r:id="rId28"/>
    <p:sldId id="285" r:id="rId29"/>
    <p:sldId id="286" r:id="rId30"/>
    <p:sldId id="284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69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2051720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前言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39552" y="1218502"/>
            <a:ext cx="7704856" cy="1752600"/>
          </a:xfrm>
        </p:spPr>
        <p:txBody>
          <a:bodyPr>
            <a:norm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zh-CN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要</a:t>
            </a:r>
            <a:r>
              <a:rPr lang="zh-CN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早</a:t>
            </a:r>
            <a:r>
              <a:rPr lang="zh-CN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做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，有意识得经常性得去做</a:t>
            </a:r>
            <a:endParaRPr lang="zh-CN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</a:t>
            </a:r>
            <a:r>
              <a:rPr lang="zh-CN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不要</a:t>
            </a:r>
            <a:r>
              <a:rPr lang="zh-CN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等到最后才去做</a:t>
            </a:r>
            <a:r>
              <a:rPr lang="zh-CN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优化</a:t>
            </a:r>
            <a:endParaRPr lang="zh-CN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</a:t>
            </a:r>
            <a:r>
              <a:rPr lang="zh-CN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不要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盲目得去优化</a:t>
            </a:r>
            <a:r>
              <a:rPr lang="zh-CN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在</a:t>
            </a:r>
            <a:r>
              <a:rPr lang="zh-CN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检测</a:t>
            </a:r>
            <a:r>
              <a:rPr lang="zh-CN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到问题之后再针对的去做</a:t>
            </a:r>
            <a:endParaRPr lang="zh-CN" altLang="en-US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539552" y="3337965"/>
            <a:ext cx="5906289" cy="87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尽早得在目标硬件平台做测试</a:t>
            </a:r>
            <a:endParaRPr lang="zh-CN" altLang="en-US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5" name="副标题 2"/>
          <p:cNvSpPr txBox="1">
            <a:spLocks/>
          </p:cNvSpPr>
          <p:nvPr/>
        </p:nvSpPr>
        <p:spPr>
          <a:xfrm>
            <a:off x="539552" y="4581128"/>
            <a:ext cx="7416824" cy="87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项目的每个人员都应该了解基本的性能优化，懂得资源优化的美术人员可以节省大量的优化时间</a:t>
            </a:r>
            <a:endParaRPr lang="zh-CN" altLang="en-US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329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3024336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优化准备工作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39552" y="1218502"/>
            <a:ext cx="7704856" cy="1058370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性能分析会有其它的干扰项，为了让数据更加准确，需要做一些准备工作来最小化干扰。</a:t>
            </a:r>
            <a:endParaRPr lang="zh-CN" altLang="en-US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539552" y="2276872"/>
            <a:ext cx="6624736" cy="3816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关掉一切无用的进程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关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掉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垂直同步（调用控制台命令（小键盘最左边的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“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~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”键）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”</a:t>
            </a:r>
            <a:r>
              <a:rPr lang="en-US" altLang="zh-CN" sz="2400" i="1" dirty="0" err="1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r.vsync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0”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)</a:t>
            </a:r>
          </a:p>
          <a:p>
            <a:pPr algn="l"/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关掉帧率平滑</a:t>
            </a:r>
            <a:endParaRPr lang="zh-CN" altLang="en-US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394" y="3600582"/>
            <a:ext cx="1048072" cy="584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941168"/>
            <a:ext cx="1512168" cy="965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右箭头 5"/>
          <p:cNvSpPr/>
          <p:nvPr/>
        </p:nvSpPr>
        <p:spPr>
          <a:xfrm>
            <a:off x="2555776" y="5229200"/>
            <a:ext cx="432048" cy="2880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077072"/>
            <a:ext cx="1296144" cy="1931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右箭头 10"/>
          <p:cNvSpPr/>
          <p:nvPr/>
        </p:nvSpPr>
        <p:spPr>
          <a:xfrm>
            <a:off x="4427984" y="5229200"/>
            <a:ext cx="432048" cy="2880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5126059"/>
            <a:ext cx="3456384" cy="514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672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3024336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优化准备工作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539552" y="1226524"/>
            <a:ext cx="6624736" cy="5010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关掉</a:t>
            </a:r>
            <a:r>
              <a:rPr lang="en-US" altLang="zh-CN" sz="2400" dirty="0" err="1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Realtime</a:t>
            </a: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Standalone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模式下运行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最小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化编辑器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034431"/>
            <a:ext cx="2016224" cy="1441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00808"/>
            <a:ext cx="22288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799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3024336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找到瓶颈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539552" y="1772816"/>
            <a:ext cx="8208912" cy="40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影响一个游戏帧率有多种因素，优化之前先找到最大瓶颈所在再针对进行优化。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使用控制台命令</a:t>
            </a:r>
            <a:r>
              <a:rPr lang="zh-CN" altLang="en-US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“</a:t>
            </a:r>
            <a:r>
              <a:rPr lang="en-US" altLang="zh-CN" sz="2400" i="1" dirty="0" err="1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r.ScreenPercentage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10”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，如果游戏突然加快说明就是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遇到瓶颈（这条命令的作用是修改屏幕分辨率的百分比，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10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代表把分辨率的百分比调成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10%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，分辨率越低意味着需要渲染的像素点越少，减少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的负担，如果此时游戏突然加快，就说明之前的瓶颈在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上）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494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3024336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找到瓶颈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539552" y="1772816"/>
            <a:ext cx="8208912" cy="40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使用控制台命令</a:t>
            </a:r>
            <a:r>
              <a:rPr lang="zh-CN" altLang="en-US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“</a:t>
            </a:r>
            <a:r>
              <a:rPr lang="en-US" altLang="zh-CN" sz="2400" i="1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tat FPS”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打开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FPS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（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Frames Per Second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，每秒刷新的帧数，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FPS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越高说明屏幕刷新得越快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以及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Frame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（刷新一帧需要得时间，单位毫秒，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Frame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越低说明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屏幕刷新得越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快）。</a:t>
            </a: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i="1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“</a:t>
            </a:r>
            <a:r>
              <a:rPr lang="en-US" altLang="zh-CN" sz="2400" i="1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Stat FPS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”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只是用作标准参考得数据，并不能用作瓶颈分析。</a:t>
            </a: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429000"/>
            <a:ext cx="2088232" cy="52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3356992"/>
            <a:ext cx="1057318" cy="601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1986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3024336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找到瓶颈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539552" y="1052736"/>
            <a:ext cx="8352928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使用控制台命令</a:t>
            </a:r>
            <a:r>
              <a:rPr lang="zh-CN" altLang="en-US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“</a:t>
            </a:r>
            <a:r>
              <a:rPr lang="en-US" altLang="zh-CN" sz="2400" i="1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tat Unit”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把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Frame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拆成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Game/Draw/GPU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三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个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部分，数值最接近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Frame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的基本就是瓶颈所在了。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CN" sz="2400" dirty="0" smtClean="0">
                <a:solidFill>
                  <a:srgbClr val="92D050"/>
                </a:solidFill>
                <a:latin typeface="等线" pitchFamily="2" charset="-122"/>
                <a:ea typeface="等线" pitchFamily="2" charset="-122"/>
              </a:rPr>
              <a:t>Frame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：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刷新一帧需要得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时间。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</a:t>
            </a:r>
            <a:r>
              <a:rPr lang="en-US" altLang="zh-CN" sz="2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Game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：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C++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或者蓝图的游戏逻辑消耗。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</a:t>
            </a:r>
            <a:r>
              <a:rPr lang="en-US" altLang="zh-CN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等线" pitchFamily="2" charset="-122"/>
                <a:ea typeface="等线" pitchFamily="2" charset="-122"/>
              </a:rPr>
              <a:t>Draw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：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渲染消耗。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</a:t>
            </a:r>
            <a:r>
              <a:rPr lang="en-US" altLang="zh-CN" sz="24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：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渲染消耗。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也可以使用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控制台命令</a:t>
            </a:r>
            <a:r>
              <a:rPr lang="zh-CN" altLang="en-US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“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Stat </a:t>
            </a:r>
            <a:r>
              <a:rPr lang="en-US" altLang="zh-CN" sz="2400" i="1" dirty="0" err="1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UnitGraph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” </a:t>
            </a:r>
          </a:p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以图表的形式显示数据。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16832"/>
            <a:ext cx="1872928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5" y="4221088"/>
            <a:ext cx="2232971" cy="1765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058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3024336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找到瓶颈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539552" y="1052736"/>
            <a:ext cx="8352928" cy="5112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还有一种快速分析的方式就是控制显示的类型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zh-CN" altLang="en-US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“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Show xxx”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（比如说</a:t>
            </a:r>
            <a:r>
              <a:rPr lang="zh-CN" altLang="en-US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“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Show </a:t>
            </a:r>
            <a:r>
              <a:rPr lang="en-US" altLang="zh-CN" sz="2400" i="1" dirty="0" err="1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Staticmeshes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”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切换静态模型的                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显示）</a:t>
            </a: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CN" sz="2400" dirty="0" err="1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Staticmeshes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</a:t>
            </a:r>
            <a:r>
              <a:rPr lang="en-US" altLang="zh-CN" sz="2400" dirty="0" err="1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Skeletameshes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Particles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Translucency</a:t>
            </a:r>
          </a:p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等等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768" y="2492896"/>
            <a:ext cx="4686300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083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3024336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539552" y="1844824"/>
            <a:ext cx="8352928" cy="288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找到瓶颈之后要知道各自瓶颈的影响因素，再针对各自的因素考虑解决办法。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Game—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代码或者蓝图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绘制指令（</a:t>
            </a:r>
            <a:r>
              <a:rPr lang="en-US" altLang="zh-CN" sz="2400" dirty="0" err="1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DrawCall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），剔除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材质，重复绘制（</a:t>
            </a:r>
            <a:r>
              <a:rPr lang="en-US" altLang="zh-CN" sz="2400" dirty="0" err="1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OverDraw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），灯光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893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4968552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539552" y="1124744"/>
            <a:ext cx="8352928" cy="1440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什么是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？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是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对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一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道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命令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,CPU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跟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的通信分为三个阶段，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处于第三阶段。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539552" y="2564904"/>
            <a:ext cx="4896544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实质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跟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是并行运行的，而保 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证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和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可以并行工作的解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决方法是：创建命令缓冲区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,CPU  </a:t>
            </a:r>
          </a:p>
          <a:p>
            <a:pPr algn="l"/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发布命令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,GPU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在完成上一次渲染 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任务之后会从中再取出命令并且  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执行。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  </a:t>
            </a:r>
            <a:endParaRPr lang="zh-CN" altLang="en-US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68960"/>
            <a:ext cx="3324189" cy="2863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142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4968552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Call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1124072"/>
            <a:ext cx="3708920" cy="5329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为什么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多了会影响帧率？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在每次调用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之前，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需要向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发送很多内容，包括数据，状态等，在这一阶段，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需要完成很多工作，例如检查渲染状态等。而一旦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完成了准备工作，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开始本次的渲染。</a:t>
            </a:r>
            <a:r>
              <a:rPr lang="zh-CN" altLang="en-US" sz="1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由于</a:t>
            </a:r>
            <a:r>
              <a:rPr lang="en-US" altLang="zh-CN" sz="1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1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的多核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性，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的渲染能力是很强的，渲染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300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个和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3000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个三角模型通常没有什么区别，因此渲染速度往往快于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。如果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过多，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就会把大量时间花费在提交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的命令上，照成</a:t>
            </a:r>
            <a:r>
              <a:rPr lang="en-US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过载。</a:t>
            </a:r>
            <a:endParaRPr lang="en-US" altLang="zh-CN" sz="1600" dirty="0" smtClean="0"/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zh-CN" sz="1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因此</a:t>
            </a:r>
            <a:r>
              <a:rPr lang="zh-CN" altLang="zh-CN" sz="1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造成Draw Call性能问题的元凶是CPU。</a:t>
            </a:r>
            <a:endParaRPr lang="en-US" altLang="zh-CN" sz="16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7171" name="Picture 3" descr="C:\Users\admin\Desktop\2018032617221338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988840"/>
            <a:ext cx="4390856" cy="352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47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6480720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Call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1124072"/>
            <a:ext cx="3708920" cy="5329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怎么减少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？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提交大量很小的</a:t>
            </a:r>
            <a:r>
              <a:rPr lang="en-US" altLang="zh-CN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会造成</a:t>
            </a:r>
            <a:r>
              <a:rPr lang="en-US" altLang="zh-CN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的瓶颈，</a:t>
            </a:r>
            <a:r>
              <a:rPr lang="en-US" altLang="zh-CN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把时间都花费在准备</a:t>
            </a:r>
            <a:r>
              <a:rPr lang="en-US" altLang="zh-CN" sz="20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</a:t>
            </a:r>
            <a:r>
              <a:rPr lang="en-US" altLang="zh-CN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Call</a:t>
            </a:r>
            <a:r>
              <a:rPr lang="zh-CN" altLang="en-US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上了。那么，一个显然的优化想法就是把很小的</a:t>
            </a:r>
            <a:r>
              <a:rPr lang="en-US" altLang="zh-CN" sz="20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</a:t>
            </a:r>
            <a:r>
              <a:rPr lang="en-US" altLang="zh-CN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Call</a:t>
            </a:r>
            <a:r>
              <a:rPr lang="zh-CN" altLang="en-US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合并成一个大的</a:t>
            </a:r>
            <a:r>
              <a:rPr lang="en-US" altLang="zh-CN" sz="20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</a:t>
            </a:r>
            <a:r>
              <a:rPr lang="en-US" altLang="zh-CN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Call</a:t>
            </a:r>
            <a:r>
              <a:rPr lang="zh-CN" altLang="en-US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，这就是批处理的思想。</a:t>
            </a:r>
            <a:endParaRPr lang="en-US" altLang="zh-CN" sz="20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但</a:t>
            </a:r>
            <a:r>
              <a:rPr lang="zh-CN" altLang="en-US" sz="20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要注意的是，使用批处理的模型将会使用同一种渲染状态。也就是说，如果模型之间使用不同的渲染状态，那么使用批处理技术将没有意义。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8194" name="Picture 2" descr="C:\Users\admin\Desktop\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754" y="1628800"/>
            <a:ext cx="4748405" cy="325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70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5472608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Call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1124072"/>
            <a:ext cx="7992888" cy="5733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关于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优化的总结。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避免使用大量小模型，尽量把具有相同材质的模型合并成一个大模型。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减少单个模型材质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ID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，能用一个材质解决就不要出现第二个材质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因为不同材质使用不同的渲染状态。    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尽量在不同模型之间共用一个材质。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需要注意的是，由于我们需要在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内存中合并模型，而这个过程是需要消耗时间的。因此，批处理更适合静态的模型，例如不会移动的房子，石头等，对于这些静态物体只需要合并一次就可以了。当然，我们也可以对动态物体进行批处理，但是，因为这些物体是不断运动的，因此每一帧都需要重新进行合并然后再发送给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，这样反而不合算了。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151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5184576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Call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2132856"/>
            <a:ext cx="5184576" cy="288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UE4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批处理的方法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使用开发者工具中的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Merge Actors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工具。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011" y="404664"/>
            <a:ext cx="2476143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001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6912768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Call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1340768"/>
            <a:ext cx="7848872" cy="288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UE4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批处理的方法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使用蓝图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中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Instanced Static Meshes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功能，作用是指定一个静态模型拷贝出大量的实例，最后只算一个模型的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899592" y="2996952"/>
            <a:ext cx="6984776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1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6768752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Call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1340768"/>
            <a:ext cx="7848872" cy="2808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UE4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批处理的方法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使用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Foliage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系统。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适用于植被系统，例如树，草地等等。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自由度高，可以自由控制植被的位置，疏密，大小等等。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跟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Instanced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Static Meshes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一样，最后形成是单个的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Instanced Actor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，只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算一个模型的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178796"/>
            <a:ext cx="315277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144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4968552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539552" y="1124744"/>
            <a:ext cx="8352928" cy="129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次数的查看方法。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使用控制台命令</a:t>
            </a:r>
            <a:r>
              <a:rPr lang="zh-CN" altLang="en-US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“</a:t>
            </a:r>
            <a:r>
              <a:rPr lang="en-US" altLang="zh-CN" sz="2400" i="1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tat </a:t>
            </a:r>
            <a:r>
              <a:rPr lang="en-US" altLang="zh-CN" sz="2400" i="1" dirty="0" err="1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SceneRendering</a:t>
            </a:r>
            <a:r>
              <a:rPr lang="en-US" altLang="zh-CN" sz="2400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”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539552" y="2564904"/>
            <a:ext cx="4896544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268760"/>
            <a:ext cx="151447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060848"/>
            <a:ext cx="4536504" cy="2817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副标题 2"/>
          <p:cNvSpPr txBox="1">
            <a:spLocks/>
          </p:cNvSpPr>
          <p:nvPr/>
        </p:nvSpPr>
        <p:spPr>
          <a:xfrm>
            <a:off x="539552" y="5085184"/>
            <a:ext cx="8352928" cy="129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图表下面显示的就是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数量。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37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6768752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剔除（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2348880"/>
            <a:ext cx="7848872" cy="2808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所谓剔除，简单点来说就是将不需要渲染的东西给排除掉，减轻渲染压力。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剔除有多种方法，这里主要讲距离剔除、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视锥体剔除、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遮挡剔除跟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Early Z Pass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652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6768752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剔除（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1988840"/>
            <a:ext cx="7056784" cy="1584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距离剔除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(Distance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 Culling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)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跟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LOD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类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似的优化思路，距离屏幕远的、不重要的物体给剔除掉，不渲染出来。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2050" name="Picture 2" descr="C:\Users\admin\Desktop\距离剔除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590936"/>
            <a:ext cx="5397754" cy="2147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8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6768752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剔除（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1988840"/>
            <a:ext cx="8280920" cy="1584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距离剔除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(Distance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 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的工具与使用方法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 Distance Volume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工具，把大于相距相机一定距离并且小于一定尺寸的对象给剔除掉。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84984"/>
            <a:ext cx="5036097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579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6768752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剔除（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1074494"/>
            <a:ext cx="8280920" cy="1584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距离剔除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(Distance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 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的工具与使用方法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4098" name="Picture 2" descr="C:\Users\admin\Desktop\CullDistancesProperty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86" y="1913937"/>
            <a:ext cx="3017837" cy="300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副标题 2"/>
          <p:cNvSpPr txBox="1">
            <a:spLocks/>
          </p:cNvSpPr>
          <p:nvPr/>
        </p:nvSpPr>
        <p:spPr>
          <a:xfrm>
            <a:off x="3779912" y="1841538"/>
            <a:ext cx="5040560" cy="4251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在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该</a:t>
            </a:r>
            <a:r>
              <a:rPr lang="en-US" altLang="zh-CN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Volume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内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对象中，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如果它们的尺寸小于</a:t>
            </a:r>
            <a:r>
              <a:rPr lang="en-US" altLang="zh-CN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50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个单位，那么当这些对象距离相机</a:t>
            </a:r>
            <a:r>
              <a:rPr lang="en-US" altLang="zh-CN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500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个单位或者更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远时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，将会剔除这些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对象。</a:t>
            </a:r>
            <a:endParaRPr lang="en-US" altLang="zh-CN" sz="18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285750" indent="-285750" algn="l">
              <a:buFont typeface="Arial" pitchFamily="34" charset="0"/>
              <a:buChar char="•"/>
            </a:pPr>
            <a:endParaRPr lang="en-US" altLang="zh-CN" sz="18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285750" indent="-285750" algn="l">
              <a:buFont typeface="Arial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在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该</a:t>
            </a:r>
            <a:r>
              <a:rPr lang="en-US" altLang="zh-CN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Volume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内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的对象，如果它们的尺寸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小于</a:t>
            </a:r>
            <a:r>
              <a:rPr lang="en-US" altLang="zh-CN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120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个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单位，那么当这些对象距离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相机</a:t>
            </a:r>
            <a:r>
              <a:rPr lang="en-US" altLang="zh-CN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1000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个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单位或者更远时，将会剔除这些对象。</a:t>
            </a:r>
            <a:endParaRPr lang="en-US" altLang="zh-CN" sz="18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285750" indent="-285750" algn="l">
              <a:buFont typeface="Arial" pitchFamily="34" charset="0"/>
              <a:buChar char="•"/>
            </a:pPr>
            <a:endParaRPr lang="en-US" altLang="zh-CN" sz="18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285750" indent="-285750" algn="l">
              <a:buFont typeface="Arial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在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该</a:t>
            </a:r>
            <a:r>
              <a:rPr lang="en-US" altLang="zh-CN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Volume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内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的对象，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如果他们的尺寸大于</a:t>
            </a:r>
            <a:r>
              <a:rPr lang="en-US" altLang="zh-CN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300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个单位， 那么将 </a:t>
            </a:r>
            <a:r>
              <a:rPr lang="zh-CN" altLang="en-US" sz="1800" b="1" dirty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永远不会剔除</a:t>
            </a:r>
            <a:r>
              <a:rPr lang="zh-CN" altLang="en-US" sz="1800" dirty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该对象，因为在这种情况下</a:t>
            </a:r>
            <a:r>
              <a:rPr lang="en-US" altLang="zh-CN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0</a:t>
            </a:r>
            <a:r>
              <a:rPr lang="zh-CN" altLang="en-US" sz="18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代表无穷远，该相机永远都不会达到那么远</a:t>
            </a:r>
            <a:r>
              <a:rPr lang="zh-CN" altLang="en-US" sz="18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。当你想要体积内尺寸大于一定数值的对象永远不被剔除，可以使用这个设置。</a:t>
            </a:r>
            <a:endParaRPr lang="en-US" altLang="zh-CN" sz="18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5" name="右箭头 4"/>
          <p:cNvSpPr/>
          <p:nvPr/>
        </p:nvSpPr>
        <p:spPr>
          <a:xfrm rot="18944738">
            <a:off x="2822576" y="2639060"/>
            <a:ext cx="1336016" cy="276010"/>
          </a:xfrm>
          <a:prstGeom prst="rightArrow">
            <a:avLst>
              <a:gd name="adj1" fmla="val 50000"/>
              <a:gd name="adj2" fmla="val 1589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 rot="20530425">
            <a:off x="2932507" y="3498419"/>
            <a:ext cx="1064691" cy="276010"/>
          </a:xfrm>
          <a:prstGeom prst="rightArrow">
            <a:avLst>
              <a:gd name="adj1" fmla="val 50000"/>
              <a:gd name="adj2" fmla="val 1589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 rot="638939">
            <a:off x="2932151" y="4347971"/>
            <a:ext cx="1064691" cy="276010"/>
          </a:xfrm>
          <a:prstGeom prst="rightArrow">
            <a:avLst>
              <a:gd name="adj1" fmla="val 50000"/>
              <a:gd name="adj2" fmla="val 1589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副标题 2"/>
          <p:cNvSpPr txBox="1">
            <a:spLocks/>
          </p:cNvSpPr>
          <p:nvPr/>
        </p:nvSpPr>
        <p:spPr>
          <a:xfrm>
            <a:off x="586486" y="5013176"/>
            <a:ext cx="3337442" cy="1584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*</a:t>
            </a:r>
            <a:r>
              <a:rPr lang="en-US" altLang="zh-CN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Size</a:t>
            </a:r>
            <a:r>
              <a:rPr lang="zh-CN" altLang="en-US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指的是该物体最长边的长度。</a:t>
            </a:r>
            <a:endParaRPr lang="en-US" altLang="zh-CN" sz="1400" dirty="0" smtClean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zh-CN" altLang="en-US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比如说一个</a:t>
            </a:r>
            <a:r>
              <a:rPr lang="en-US" altLang="zh-CN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BOX</a:t>
            </a:r>
            <a:r>
              <a:rPr lang="zh-CN" altLang="en-US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的尺寸是</a:t>
            </a:r>
            <a:r>
              <a:rPr lang="en-US" altLang="zh-CN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50×100×120</a:t>
            </a:r>
            <a:r>
              <a:rPr lang="zh-CN" altLang="en-US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，那么这个</a:t>
            </a:r>
            <a:r>
              <a:rPr lang="en-US" altLang="zh-CN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BOX</a:t>
            </a:r>
            <a:r>
              <a:rPr lang="zh-CN" altLang="en-US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的</a:t>
            </a:r>
            <a:r>
              <a:rPr lang="en-US" altLang="zh-CN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Size</a:t>
            </a:r>
            <a:r>
              <a:rPr lang="zh-CN" altLang="en-US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就是</a:t>
            </a:r>
            <a:r>
              <a:rPr lang="en-US" altLang="zh-CN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120</a:t>
            </a:r>
            <a:r>
              <a:rPr lang="zh-CN" altLang="en-US" sz="1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1400" dirty="0" smtClean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47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6768752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剔除（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1196752"/>
            <a:ext cx="7848872" cy="3456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视锥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体剔除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(Frustum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 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Culling)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将摄像机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的视野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(field of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view)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以外的物体给排除掉，被排除掉的物体的不会进入渲染的几何阶段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(Geometry Stage)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通俗点讲就是屏幕以外的东西不会被渲染，大大减少了渲染消耗。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1026" name="Picture 2" descr="C:\Users\admin\Desktop\视锥体剔除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7" y="3717032"/>
            <a:ext cx="5619071" cy="235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15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6768752" cy="76896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剔除（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39552" y="1988840"/>
            <a:ext cx="7056784" cy="3456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视锥体剔除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(Frustum Culling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的优化方案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将画面变得精简，在同一屏幕内同时出现的物体尽量减少。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将关卡内的物体给分散，这样出现在同一屏幕内出现的物体会减少。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091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遮挡剔除（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Occlusion 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412776"/>
            <a:ext cx="7866012" cy="3456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遮挡剔除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(Occlusion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 Culling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)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根据场景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中物体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的位置预先生成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场景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Occlusion Culling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数据，运行时就可以剔除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对应物体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之后的其他物体。遮挡剔除是减少渲染消耗的有效手段之一，可以和视椎体剔除同时生效，进一步减少渲染的消耗。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5122" name="Picture 2" descr="C:\Users\admin\Desktop\遮挡剔除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693" y="3508466"/>
            <a:ext cx="5257449" cy="248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3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遮挡剔除（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Occlusion 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2420888"/>
            <a:ext cx="7866012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针对遮挡剔除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(Occlusion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 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Culling)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的优化方案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当同一屏幕内同时出现大量的物体，可以用单个的大型物体挡住，比如说一面大型的墙。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459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Early 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Z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Pass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340768"/>
            <a:ext cx="8442076" cy="4176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Early 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Z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Pass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遮挡剔除完成后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，还是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有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大量被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遮挡的像素将被绘制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，这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也会带来不必要的开销。于是此处做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Early Z Pass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类似于遮挡剔除物体，这次我们剔除掉被遮挡的像素。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6147" name="Picture 3" descr="C:\Users\admin\Desktop\Z-pa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084" y="3284984"/>
            <a:ext cx="5036732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69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Early 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Z 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Pass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340768"/>
            <a:ext cx="8442076" cy="4824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Early 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Z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Pass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重点来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了</a:t>
            </a:r>
            <a:r>
              <a:rPr lang="en-US" altLang="zh-CN" sz="2400" b="1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!!!!!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半透材质物体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(Translucent)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为了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可以和已有像素混合，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是  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不能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开启深度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写入的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,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所以：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b="1" i="1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b="1" i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</a:t>
            </a:r>
            <a:r>
              <a:rPr lang="zh-CN" altLang="en-US" sz="2400" b="1" i="1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半透材质是不参与此步骤的！</a:t>
            </a:r>
            <a:endParaRPr lang="en-US" altLang="zh-CN" sz="2400" b="1" i="1" dirty="0" smtClean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zh-CN" altLang="en-US" sz="2400" b="1" i="1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    半</a:t>
            </a:r>
            <a:r>
              <a:rPr lang="zh-CN" altLang="en-US" sz="2400" b="1" i="1" dirty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透材质是不参与此步骤的！</a:t>
            </a:r>
            <a:endParaRPr lang="en-US" altLang="zh-CN" sz="2400" b="1" i="1" dirty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zh-CN" altLang="en-US" sz="2400" b="1" i="1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    半</a:t>
            </a:r>
            <a:r>
              <a:rPr lang="zh-CN" altLang="en-US" sz="2400" b="1" i="1" dirty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透材质是不参与此步骤的</a:t>
            </a:r>
            <a:r>
              <a:rPr lang="zh-CN" altLang="en-US" sz="2400" b="1" i="1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！</a:t>
            </a:r>
            <a:endParaRPr lang="en-US" altLang="zh-CN" sz="2400" b="1" i="1" dirty="0" smtClean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zh-CN" altLang="en-US" sz="24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 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因此造成了我们常说的</a:t>
            </a:r>
            <a:r>
              <a:rPr lang="zh-CN" altLang="en-US" sz="24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重复绘制</a:t>
            </a:r>
            <a:r>
              <a:rPr lang="en-US" altLang="zh-CN" sz="24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(Over Draw)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现象，既要渲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染半透材质物体，还要渲染后面未被剔除的像素，渲染次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数以倍数增长。</a:t>
            </a: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endParaRPr lang="en-US" altLang="zh-CN" sz="2400" b="1" i="1" dirty="0" smtClean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815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重复</a:t>
            </a:r>
            <a:r>
              <a:rPr lang="zh-CN" altLang="en-US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绘制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(Over Draw)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340768"/>
            <a:ext cx="8082036" cy="4824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重复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绘制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(Over Draw)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的优化方案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尽量减少半透材质占据屏幕的面积，宁愿增加模型顶点数来代替半透材质的使用。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透贴材质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(Mask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也是如此，虽然它不是混合像素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，但是它是像素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先全部绘制后，再进行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mask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，把没用的像素扣掉，再绘制后面的物体，所以被扣掉的是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部分也是重复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绘制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区域。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延迟贴花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Deferred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Decal)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本质上也是半透混合模式，所以它也会造成重复绘制，大面积的延迟贴花使用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Plane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模型代替，或者使用顶点绘制。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355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重复</a:t>
            </a:r>
            <a:r>
              <a:rPr lang="zh-CN" altLang="en-US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绘制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(Over Draw)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556792"/>
            <a:ext cx="8082036" cy="439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重复绘制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(Over Draw)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检查工具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View Mode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下的</a:t>
            </a:r>
            <a:r>
              <a:rPr lang="en-US" altLang="zh-CN" sz="2400" dirty="0" err="1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Shader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Complexity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工具，快捷键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Alt+8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，运行的时候快捷键是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F5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52936"/>
            <a:ext cx="492442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231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重复</a:t>
            </a:r>
            <a:r>
              <a:rPr lang="zh-CN" altLang="en-US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绘制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(Over Draw)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196752"/>
            <a:ext cx="8082036" cy="439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重复绘制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(Over Draw)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检查工具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颜色条由绿色向粉白色过度，绿色是最理想的，只绘制一次，粉白色十分糟糕，绘制了多次，如下图，草地因为多次的重复绘制，形成恐怖的粉白色。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934961"/>
            <a:ext cx="5544616" cy="306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794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重复</a:t>
            </a:r>
            <a:r>
              <a:rPr lang="zh-CN" altLang="en-US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绘制</a:t>
            </a:r>
            <a:r>
              <a:rPr lang="en-US" altLang="zh-CN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(Over Draw)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556792"/>
            <a:ext cx="8082036" cy="439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针对大片草地的优化方案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我们制作草地的通常做法是使用几张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Plane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模型穿插，然后使用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Mask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贴图形成草的样子，这样的话就造成了我们之前说的重复绘制问题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,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而且草地是由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N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颗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草重叠构成，绘制的重复次数更是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倍。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所以一个解决方案是细化草模型，减少透贴面积。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但是这样的话模型顶点数也会成倍增加，同样造成不小的压力，所以最后综合考虑，使用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LOD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的思路，屏幕近处的草细化顶点，屏幕远处的草因为占据屏幕的面积减少，重复绘制面积就会减少，就可以使用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Plane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模型了。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033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材质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(Material)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196752"/>
            <a:ext cx="8082036" cy="439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材质的绘制指令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(Instruction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)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材质的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指的是材质所在的模型的每个被渲染的像素每帧需要的绘制指令。举个例子，一个材质的指令有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100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条，这个材质所在的模型最终被渲染的像素有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500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个，那最后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每帧需要执行的指令是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100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*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500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条，也就是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50000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条。</a:t>
            </a:r>
            <a:r>
              <a:rPr lang="zh-CN" altLang="en-US" sz="2400" i="1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（从这里看出，</a:t>
            </a:r>
            <a:r>
              <a:rPr lang="en-US" altLang="zh-CN" sz="2400" i="1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GPU</a:t>
            </a:r>
            <a:r>
              <a:rPr lang="zh-CN" altLang="en-US" sz="2400" i="1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的运算能力是多么强大，也可以从侧面认识到优化</a:t>
            </a:r>
            <a:r>
              <a:rPr lang="en-US" altLang="zh-CN" sz="2400" i="1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Draw Call</a:t>
            </a:r>
            <a:r>
              <a:rPr lang="zh-CN" altLang="en-US" sz="2400" i="1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的重要性）</a:t>
            </a:r>
            <a:endParaRPr lang="en-US" altLang="zh-CN" sz="2400" i="1" dirty="0" smtClean="0">
              <a:solidFill>
                <a:srgbClr val="FFFF00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64350"/>
            <a:ext cx="5112568" cy="1984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0418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材质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(Material)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628800"/>
            <a:ext cx="8082036" cy="4104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的优化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要时刻关注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的数量。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只有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Apply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之后才是最终的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Epic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官方自研游戏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Paragon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的制作标准：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角色最多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350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Instruction</a:t>
            </a:r>
          </a:p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环境模型一般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150-200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，上限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255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因为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是根据每帧每像素进行计算，所以根据材质对应的模型大小来具体决定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的数量。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204864"/>
            <a:ext cx="53340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351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材质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(Material)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058746"/>
            <a:ext cx="8082036" cy="323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的优化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如果材质比较复杂，可以使用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Static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Switch Parameter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关掉不需要的运算。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5292080" y="2675921"/>
            <a:ext cx="3240360" cy="1260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900" dirty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在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计算</a:t>
            </a:r>
            <a:r>
              <a:rPr lang="en-US" altLang="zh-CN" sz="1900" dirty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Static</a:t>
            </a:r>
            <a:r>
              <a:rPr lang="zh-CN" altLang="en-US" sz="1900" dirty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1900" dirty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Switch Parameter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的时候只会去计算</a:t>
            </a:r>
            <a:r>
              <a:rPr lang="en-US" altLang="zh-CN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True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跟</a:t>
            </a:r>
            <a:r>
              <a:rPr lang="en-US" altLang="zh-CN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False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其中一条线上的逻辑，不会浪费运算量。</a:t>
            </a:r>
            <a:endParaRPr lang="en-US" altLang="zh-CN" sz="1900" dirty="0">
              <a:solidFill>
                <a:srgbClr val="FFFF00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139952" y="3110974"/>
            <a:ext cx="1064691" cy="276010"/>
          </a:xfrm>
          <a:prstGeom prst="rightArrow">
            <a:avLst>
              <a:gd name="adj1" fmla="val 50000"/>
              <a:gd name="adj2" fmla="val 1589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副标题 2"/>
          <p:cNvSpPr txBox="1">
            <a:spLocks/>
          </p:cNvSpPr>
          <p:nvPr/>
        </p:nvSpPr>
        <p:spPr>
          <a:xfrm>
            <a:off x="522412" y="4221088"/>
            <a:ext cx="808203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相对的，少用</a:t>
            </a:r>
            <a:r>
              <a:rPr lang="en-US" altLang="zh-CN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f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命令。</a:t>
            </a: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4139951" y="5332185"/>
            <a:ext cx="1064691" cy="276010"/>
          </a:xfrm>
          <a:prstGeom prst="rightArrow">
            <a:avLst>
              <a:gd name="adj1" fmla="val 50000"/>
              <a:gd name="adj2" fmla="val 1589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副标题 2"/>
          <p:cNvSpPr txBox="1">
            <a:spLocks/>
          </p:cNvSpPr>
          <p:nvPr/>
        </p:nvSpPr>
        <p:spPr>
          <a:xfrm>
            <a:off x="5292080" y="4797152"/>
            <a:ext cx="3392946" cy="1260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900" dirty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在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计算</a:t>
            </a:r>
            <a:r>
              <a:rPr lang="en-US" altLang="zh-CN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If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的时候</a:t>
            </a:r>
            <a:r>
              <a:rPr lang="en-US" altLang="zh-CN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A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跟</a:t>
            </a:r>
            <a:r>
              <a:rPr lang="en-US" altLang="zh-CN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B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要实时去比较计算来得到到底是使用</a:t>
            </a:r>
            <a:r>
              <a:rPr lang="en-US" altLang="zh-CN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A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还是</a:t>
            </a:r>
            <a:r>
              <a:rPr lang="en-US" altLang="zh-CN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B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，也就是说，</a:t>
            </a:r>
            <a:r>
              <a:rPr lang="en-US" altLang="zh-CN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A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跟</a:t>
            </a:r>
            <a:r>
              <a:rPr lang="en-US" altLang="zh-CN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B</a:t>
            </a:r>
            <a:r>
              <a:rPr lang="zh-CN" altLang="en-US" sz="19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上的逻辑都要计算。</a:t>
            </a:r>
            <a:endParaRPr lang="en-US" altLang="zh-CN" sz="1900" dirty="0">
              <a:solidFill>
                <a:srgbClr val="FFFF00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98" y="4681128"/>
            <a:ext cx="2784839" cy="149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69" y="2476396"/>
            <a:ext cx="2759368" cy="1659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944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材质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(Material)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058746"/>
            <a:ext cx="8082036" cy="1362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的优化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不要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使用太复杂的数学计算，可以使用合理的的纹理贴图替换复杂的数学计算。举个例子：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415435"/>
            <a:ext cx="5330374" cy="2949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副标题 2"/>
          <p:cNvSpPr txBox="1">
            <a:spLocks/>
          </p:cNvSpPr>
          <p:nvPr/>
        </p:nvSpPr>
        <p:spPr>
          <a:xfrm>
            <a:off x="452854" y="5435997"/>
            <a:ext cx="8136904" cy="1260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800" dirty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同样</a:t>
            </a:r>
            <a:r>
              <a:rPr lang="zh-CN" altLang="en-US" sz="18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是蓝红条纹的效果，使用贴图的的</a:t>
            </a:r>
            <a:r>
              <a:rPr lang="en-US" altLang="zh-CN" sz="18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18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比使用数学运算的</a:t>
            </a:r>
            <a:r>
              <a:rPr lang="en-US" altLang="zh-CN" sz="18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18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少了</a:t>
            </a:r>
            <a:r>
              <a:rPr lang="en-US" altLang="zh-CN" sz="18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5</a:t>
            </a:r>
            <a:r>
              <a:rPr lang="zh-CN" altLang="en-US" sz="18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个。（当然，上例的数学运算十分简单，</a:t>
            </a:r>
            <a:r>
              <a:rPr lang="en-US" altLang="zh-CN" sz="18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1800" dirty="0" smtClean="0">
                <a:solidFill>
                  <a:srgbClr val="FFFF00"/>
                </a:solidFill>
                <a:latin typeface="等线" pitchFamily="2" charset="-122"/>
                <a:ea typeface="等线" pitchFamily="2" charset="-122"/>
              </a:rPr>
              <a:t>差距并不大）</a:t>
            </a:r>
            <a:endParaRPr lang="en-US" altLang="zh-CN" sz="1800" dirty="0">
              <a:solidFill>
                <a:srgbClr val="FFFF00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18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684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材质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(Material)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2564904"/>
            <a:ext cx="7433964" cy="2376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的优化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充分利用贴图的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R/G/B/A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四个通道，把四张不同的灰度图分别放在四个通道中合并为一张贴图，这样既可以节省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Instruction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，还可以节省内存。</a:t>
            </a: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468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(Lighting)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916832"/>
            <a:ext cx="7361956" cy="33123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灯光（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Lighting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UE4</a:t>
            </a:r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中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灯光分为三种属性，分别为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 静态光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(Static)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、固定光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(Stationary)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、动态光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(Movable)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性能消耗：静态光消耗最低，固定光其次，动态光消耗最大。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endParaRPr lang="en-US" altLang="zh-CN" sz="2400" i="1" dirty="0" smtClean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zh-CN" altLang="en-US" sz="2400" i="1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本</a:t>
            </a:r>
            <a:r>
              <a:rPr lang="zh-CN" altLang="en-US" sz="2400" i="1" dirty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文件</a:t>
            </a:r>
            <a:r>
              <a:rPr lang="zh-CN" altLang="en-US" sz="2400" i="1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只简单讲一下基本优化方案，详细的灯光属性、性能以及具体操作放在另外的文件中。</a:t>
            </a:r>
            <a:endParaRPr lang="en-US" altLang="zh-CN" sz="2400" i="1" dirty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04" y="3582979"/>
            <a:ext cx="6300700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111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(Lighting)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340767"/>
            <a:ext cx="7361956" cy="5040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灯光（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Lighting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）的优化方案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动态光的开销极大，尽量小范围使用，减少动态光影响范围。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定向光源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(Directional Light)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，也就是所谓的太阳光，只要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没有位置以及角度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变化，建议使用固定光。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减少灯光（动态光，固定光）的重复覆盖区域，其中固定光的覆盖区域最多只允许覆盖四次，第五个灯光会被当作动态光处理，因为固定光需要占据一个通道，而通道只有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R/G/B/A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四个。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     (</a:t>
            </a:r>
            <a:r>
              <a:rPr lang="zh-CN" altLang="en-US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需要注意的是，如果太阳光也是</a:t>
            </a:r>
            <a:endParaRPr lang="en-US" altLang="zh-CN" sz="1800" dirty="0" smtClean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1800" dirty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     </a:t>
            </a:r>
            <a:r>
              <a:rPr lang="zh-CN" altLang="en-US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固定光的话，那另外只允许重复</a:t>
            </a:r>
            <a:endParaRPr lang="en-US" altLang="zh-CN" sz="1800" dirty="0" smtClean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1800" dirty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     </a:t>
            </a:r>
            <a:r>
              <a:rPr lang="zh-CN" altLang="en-US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三</a:t>
            </a:r>
            <a:r>
              <a:rPr lang="zh-CN" altLang="en-US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个固态灯</a:t>
            </a:r>
            <a:r>
              <a:rPr lang="zh-CN" altLang="en-US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，因为，太阳光也</a:t>
            </a:r>
            <a:r>
              <a:rPr lang="zh-CN" altLang="en-US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占</a:t>
            </a:r>
            <a:endParaRPr lang="en-US" altLang="zh-CN" sz="1800" dirty="0" smtClean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1800" dirty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     </a:t>
            </a:r>
            <a:r>
              <a:rPr lang="zh-CN" altLang="en-US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据了一</a:t>
            </a:r>
            <a:r>
              <a:rPr lang="zh-CN" altLang="en-US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个通道</a:t>
            </a:r>
            <a:r>
              <a:rPr lang="en-US" altLang="zh-CN" sz="1800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5030838"/>
            <a:ext cx="3240360" cy="122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副标题 2"/>
          <p:cNvSpPr txBox="1">
            <a:spLocks/>
          </p:cNvSpPr>
          <p:nvPr/>
        </p:nvSpPr>
        <p:spPr>
          <a:xfrm>
            <a:off x="4283968" y="5905949"/>
            <a:ext cx="3024336" cy="475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800" i="1" dirty="0" smtClean="0">
                <a:solidFill>
                  <a:srgbClr val="FF0000"/>
                </a:solidFill>
                <a:latin typeface="等线" pitchFamily="2" charset="-122"/>
                <a:ea typeface="等线" pitchFamily="2" charset="-122"/>
              </a:rPr>
              <a:t>第五个固定光会打红叉警告</a:t>
            </a:r>
            <a:endParaRPr lang="en-US" altLang="zh-CN" sz="1800" i="1" dirty="0" smtClean="0">
              <a:solidFill>
                <a:srgbClr val="FF0000"/>
              </a:solidFill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046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(Lighting)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340767"/>
            <a:ext cx="8226052" cy="5040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灯光（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Lighting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）的优化方案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灯光重复覆盖的检查工具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View Mode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下的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Light Complexity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工具，快捷键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Alt+7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45551"/>
            <a:ext cx="2952328" cy="3506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710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(Lighting)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340767"/>
            <a:ext cx="8226052" cy="5040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灯光（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Lighting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）的优化方案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灯光重复覆盖的检查工具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    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灯光重复覆盖程度由冷色到暖色过渡。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899592" y="2780928"/>
            <a:ext cx="5904656" cy="342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5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8064896" cy="86409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瓶颈处理 </a:t>
            </a:r>
            <a:r>
              <a:rPr lang="en-US" altLang="zh-CN" sz="3600" b="1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· </a:t>
            </a:r>
            <a:r>
              <a:rPr lang="zh-CN" altLang="en-US" sz="36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</a:t>
            </a:r>
            <a:r>
              <a:rPr lang="en-US" altLang="zh-CN" sz="36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(Lighting)</a:t>
            </a:r>
            <a:endParaRPr lang="zh-CN" altLang="en-US" sz="36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522412" y="1340767"/>
            <a:ext cx="8226052" cy="5040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针对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灯光（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Lighting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）的优化方案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减少动态阴影的开启，有些看不见阴影的物体就关闭阴影，比如说地板，贴花。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UE4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中动态阴影是很伤的。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离屏幕远的看不见阴影的物体也可以通过</a:t>
            </a:r>
            <a:r>
              <a:rPr lang="en-US" altLang="zh-CN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LOD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关闭阴影</a:t>
            </a: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等线" pitchFamily="2" charset="-122"/>
                <a:ea typeface="等线" pitchFamily="2" charset="-122"/>
              </a:rPr>
              <a:t>静态构建的开销很低，能静态构建就尽量静态构建。</a:t>
            </a:r>
            <a:endParaRPr lang="en-US" altLang="zh-CN" sz="2400" dirty="0" smtClean="0">
              <a:solidFill>
                <a:schemeClr val="bg1"/>
              </a:solidFill>
              <a:latin typeface="等线" pitchFamily="2" charset="-122"/>
              <a:ea typeface="等线" pitchFamily="2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066" y="3212976"/>
            <a:ext cx="7348350" cy="102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737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2168</TotalTime>
  <Words>2737</Words>
  <Application>Microsoft Office PowerPoint</Application>
  <PresentationFormat>全屏显示(4:3)</PresentationFormat>
  <Paragraphs>240</Paragraphs>
  <Slides>40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1" baseType="lpstr">
      <vt:lpstr>Office 主题</vt:lpstr>
      <vt:lpstr>前言</vt:lpstr>
      <vt:lpstr>优化准备工作</vt:lpstr>
      <vt:lpstr>优化准备工作</vt:lpstr>
      <vt:lpstr>找到瓶颈</vt:lpstr>
      <vt:lpstr>找到瓶颈</vt:lpstr>
      <vt:lpstr>找到瓶颈</vt:lpstr>
      <vt:lpstr>找到瓶颈</vt:lpstr>
      <vt:lpstr>瓶颈处理</vt:lpstr>
      <vt:lpstr>瓶颈处理 · Draw Call</vt:lpstr>
      <vt:lpstr>瓶颈处理 · Draw Call</vt:lpstr>
      <vt:lpstr>瓶颈处理 · Draw Call</vt:lpstr>
      <vt:lpstr>瓶颈处理 · Draw Call</vt:lpstr>
      <vt:lpstr>瓶颈处理 · Draw Call</vt:lpstr>
      <vt:lpstr>瓶颈处理 · Draw Call</vt:lpstr>
      <vt:lpstr>瓶颈处理 · Draw Call</vt:lpstr>
      <vt:lpstr>瓶颈处理 · Draw Call</vt:lpstr>
      <vt:lpstr>瓶颈处理 · 剔除（Culling）</vt:lpstr>
      <vt:lpstr>瓶颈处理 · 剔除（Culling）</vt:lpstr>
      <vt:lpstr>瓶颈处理 · 剔除（Culling）</vt:lpstr>
      <vt:lpstr>瓶颈处理 · 剔除（Culling）</vt:lpstr>
      <vt:lpstr>瓶颈处理 · 剔除（Culling）</vt:lpstr>
      <vt:lpstr>瓶颈处理 · 剔除（Culling）</vt:lpstr>
      <vt:lpstr>瓶颈处理 · 遮挡剔除（Occlusion Culling ）</vt:lpstr>
      <vt:lpstr>瓶颈处理 · 遮挡剔除（Occlusion Culling ）</vt:lpstr>
      <vt:lpstr>瓶颈处理 · Early Z Pass</vt:lpstr>
      <vt:lpstr>瓶颈处理 · Early Z Pass</vt:lpstr>
      <vt:lpstr>瓶颈处理 · 重复绘制(Over Draw)</vt:lpstr>
      <vt:lpstr>瓶颈处理 · 重复绘制(Over Draw)</vt:lpstr>
      <vt:lpstr>瓶颈处理 · 重复绘制(Over Draw)</vt:lpstr>
      <vt:lpstr>瓶颈处理 · 重复绘制(Over Draw)</vt:lpstr>
      <vt:lpstr>瓶颈处理 · 材质(Material)</vt:lpstr>
      <vt:lpstr>瓶颈处理 · 材质(Material)</vt:lpstr>
      <vt:lpstr>瓶颈处理 · 材质(Material)</vt:lpstr>
      <vt:lpstr>瓶颈处理 · 材质(Material)</vt:lpstr>
      <vt:lpstr>瓶颈处理 · 材质(Material)</vt:lpstr>
      <vt:lpstr>瓶颈处理 · 灯光(Lighting)</vt:lpstr>
      <vt:lpstr>瓶颈处理 · 灯光(Lighting)</vt:lpstr>
      <vt:lpstr>瓶颈处理 · 灯光(Lighting)</vt:lpstr>
      <vt:lpstr>瓶颈处理 · 灯光(Lighting)</vt:lpstr>
      <vt:lpstr>瓶颈处理 · 灯光(Lighting)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admin</dc:creator>
  <cp:lastModifiedBy>Windows 用户</cp:lastModifiedBy>
  <cp:revision>138</cp:revision>
  <dcterms:created xsi:type="dcterms:W3CDTF">2018-09-25T03:16:40Z</dcterms:created>
  <dcterms:modified xsi:type="dcterms:W3CDTF">2018-09-30T08:40:41Z</dcterms:modified>
</cp:coreProperties>
</file>